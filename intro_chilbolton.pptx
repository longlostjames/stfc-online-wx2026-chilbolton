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Chilbolton Atmospheric Observatory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09BD5"/>
                </a:solidFill>
              </a:rPr>
              <a:t>Rainfall Climatology — Student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80360"/>
            <a:ext cx="4572000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8"/>
                </a:solidFill>
              </a:rPr>
              <a:t>Analysing over a decade of high-resolution
precipitation observations from southern England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532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3D7A"/>
                </a:solidFill>
              </a:rPr>
              <a:t>National Centre for Atmospheric Science (NCAS)  ·  Chilbolton, Hampshire, UK  ·  51.1°N  1.4°W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Chilbolton Atmospheric Observatory?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3D7A"/>
                </a:solidFill>
              </a:rPr>
              <a:t>Key Facts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Located near Stockbridge, Hampshire, UK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Coordinates: 51.145 °N, 1.440 °W, altitude 84 m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Operated by NCAS (National Centre for Atmospheric Science)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One of the UK's premier ground-based atmospheric observatories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Continuous measurements since the early 1990s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Data archived at CEDA (Centre for Environmental Data Analysis)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Instruments follow NCAS/CF NetCDF conventions for interoperability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88720"/>
            <a:ext cx="52120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3258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</a:rPr>
              <a:t>• Why southern England?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Representative of maritime temperate climate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Mix of frontal (Atlantic) and convective rainfall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Long continuous record enables robust climatology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Why high-resolution data?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10-second samples resolve brief intense bursts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Enables sub-hourly intensity statistics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  – Critical for flood-risk and link-budget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Instruments Used in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Rain Gauges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Tipping-bucket gauges: 0.2 mm per tip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Weighing gauges: continuous mass measurement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Multiple gauges allow cross-validation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QC flags identify suspect samples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Labels: ncas-rain-gauge-1/2/3/5/9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18872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Anemometers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Sonic anemometers — no moving parts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Measure 3-component wind vector at 10 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Mean wind speed and direction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Used in student wind project (separate)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9476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Temperature &amp; Humidity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Thermometers and capacitive RH sensors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Housed in radiation screens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Temperatures stored in Kelvin in NetCDF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Used in student T/RH project (separate)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79476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Pressure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Electronic barometric pressure sensors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Data available from 2019 onwards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Used in student pressure project (separate)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Rainfall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D5"/>
                </a:solidFill>
              </a:rPr>
              <a:t>~12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of continuous data
(2014 –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1280160"/>
            <a:ext cx="2651760" cy="1645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D5"/>
                </a:solidFill>
              </a:rPr>
              <a:t>10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sampling interval
(6 samples min⁻¹)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280160"/>
            <a:ext cx="2651760" cy="1645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D5"/>
                </a:solidFill>
              </a:rPr>
              <a:t>4 gauges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merged by physical ID
across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9136" y="1280160"/>
            <a:ext cx="2651760" cy="1645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BD5"/>
                </a:solidFill>
              </a:rPr>
              <a:t>NetCDF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057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with CF conventions
and QC flag 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11155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3D7A"/>
                </a:solidFill>
              </a:rPr>
              <a:t>Quality Control Flags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QC flag = 0 → not used (no data)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QC flag = 1 → good data  ✓  (use this)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QC flag = 2 → bad data (remove)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QC flag ≥ 3 → bad data, specific reason (remove)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Always filter to flag == 1 before computing statistics</a:t>
            </a:r>
          </a:p>
          <a:p>
            <a:pPr/>
            <a:r>
              <a:rPr sz="1800">
                <a:solidFill>
                  <a:srgbClr val="333333"/>
                </a:solidFill>
              </a:rPr>
              <a:t>• Suspect spikes may slip through — the extreme event catalogue helps identify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Tasks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1216152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16152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Load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34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Read NetCDF files, apply QC flags, inspect the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11430000" cy="5852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837944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37944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56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Summary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562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Total accumulation, mean/max rate, wet fraction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86584"/>
            <a:ext cx="11430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2459736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459736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780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Temporal aggregations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4780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Daily, monthly and annual totals from raw 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08376"/>
            <a:ext cx="11430000" cy="5852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" y="3081528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08152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998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Visualisation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0998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3-panel bar chart: daily, monthly and annual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30168"/>
            <a:ext cx="11430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" y="3703320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70332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21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Monthly climatology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7216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Mean ± std bar chart across all years (seasonality)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51960"/>
            <a:ext cx="11430000" cy="5852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" y="4325112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325112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343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Exceedance curves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343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Probability a rate is exceeded — 1 min and 60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73752"/>
            <a:ext cx="114300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" y="4946904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4946904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965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Wet-day frequency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965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P(rain on a given day) — overall and by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95544"/>
            <a:ext cx="11430000" cy="5852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" y="5568696"/>
            <a:ext cx="402336" cy="45720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5568696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5869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3D7A"/>
                </a:solidFill>
              </a:rPr>
              <a:t>Rainfall intensity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558698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Box plots and percentile curves by month; per-year heatmap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 Will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109728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Data Skills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Read and explore NetCDF files with Python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Apply quality control to real observations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Aggregate 10-second data to daily/monthly/annual timescales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Build an event catalogue with de-duplication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188720"/>
            <a:ext cx="5486400" cy="109728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5331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Statistical Methods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Compute descriptive statistics (mean, std, percentiles)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Construct empirical exceedance (CCDF) curves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Interpret high-percentile statistics (99th, 99.9th)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Analyse inter-annual variability with heatmaps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8620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5486400" cy="109728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5079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Physical Understanding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Distinguish rainfall accumulation from intensity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Identify the seasonal cycle in frequency vs. intensity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Recognise convective vs. frontal rainfall regimes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Link gauge data to named storms and weather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88620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3886200"/>
            <a:ext cx="5486400" cy="109728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05079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D7A"/>
                </a:solidFill>
              </a:rPr>
              <a:t>Scientific Communication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Produce publication-quality multi-panel figures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Label axes with correct units (mm hr⁻¹, mm day⁻¹)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Interpret and discuss results in the project report</a:t>
            </a:r>
          </a:p>
          <a:p>
            <a:pPr/>
            <a:r>
              <a:rPr sz="1600">
                <a:solidFill>
                  <a:srgbClr val="333333"/>
                </a:solidFill>
              </a:rPr>
              <a:t>• Cross-reference data with independent 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D7A"/>
                </a:solidFill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155680" cy="118872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4416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D5"/>
                </a:solidFill>
              </a:rPr>
              <a:t>Open the introduction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intro_chilbolton.ipynb  →  observatory overview and dataset summary
intro_netcdf.ipynb     →  how to read NetCDF files with Python
intro_statistics.ipynb →  statistical methods used in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96312"/>
            <a:ext cx="11155680" cy="118872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D5"/>
                </a:solidFill>
              </a:rPr>
              <a:t>Open your worksheet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student1_rainfall.ipynb
Work through Tasks 1 – 8 in order. Each task builds on the previous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58184"/>
            <a:ext cx="11155680" cy="118872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679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D5"/>
                </a:solidFill>
              </a:rPr>
              <a:t>Run the setup cell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6110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Cell 3 defines all helper functions and the GaugeData dataclass.
Run it once before any other cell.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0056"/>
            <a:ext cx="11155680" cy="118872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84648"/>
            <a:ext cx="5029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84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297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BD5"/>
                </a:solidFill>
              </a:rPr>
              <a:t>Ask for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2297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8"/>
                </a:solidFill>
              </a:rPr>
              <a:t>Refer to the introduction notebooks, Python/NumPy/Pandas documentation,
or ask your supervisor if you get stuck.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